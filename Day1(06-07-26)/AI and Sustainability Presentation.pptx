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Plus Jakarta Sans"/>
      <p:regular r:id="rId19"/>
      <p:bold r:id="rId20"/>
      <p:italic r:id="rId21"/>
      <p:boldItalic r:id="rId22"/>
    </p:embeddedFont>
    <p:embeddedFont>
      <p:font typeface="Plus Jakarta Sans SemiBold"/>
      <p:regular r:id="rId23"/>
      <p:bold r:id="rId24"/>
      <p:italic r:id="rId25"/>
      <p:boldItalic r:id="rId26"/>
    </p:embeddedFont>
    <p:embeddedFont>
      <p:font typeface="Space Grotesk SemiBold"/>
      <p:regular r:id="rId27"/>
      <p:bold r:id="rId28"/>
    </p:embeddedFont>
    <p:embeddedFont>
      <p:font typeface="Space Grotesk"/>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bold.fntdata"/><Relationship Id="rId22" Type="http://schemas.openxmlformats.org/officeDocument/2006/relationships/font" Target="fonts/PlusJakartaSans-boldItalic.fntdata"/><Relationship Id="rId21" Type="http://schemas.openxmlformats.org/officeDocument/2006/relationships/font" Target="fonts/PlusJakartaSans-italic.fntdata"/><Relationship Id="rId24" Type="http://schemas.openxmlformats.org/officeDocument/2006/relationships/font" Target="fonts/PlusJakartaSansSemiBold-bold.fntdata"/><Relationship Id="rId23" Type="http://schemas.openxmlformats.org/officeDocument/2006/relationships/font" Target="fonts/PlusJakartaSa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usJakartaSansSemiBold-boldItalic.fntdata"/><Relationship Id="rId25" Type="http://schemas.openxmlformats.org/officeDocument/2006/relationships/font" Target="fonts/PlusJakartaSansSemiBold-italic.fntdata"/><Relationship Id="rId28" Type="http://schemas.openxmlformats.org/officeDocument/2006/relationships/font" Target="fonts/SpaceGroteskSemiBold-bold.fntdata"/><Relationship Id="rId27" Type="http://schemas.openxmlformats.org/officeDocument/2006/relationships/font" Target="fonts/SpaceGrotesk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paceGrotesk-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SpaceGrotesk-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usJakartaSa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2C"/>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7015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762000" y="4446240"/>
            <a:ext cx="10668000" cy="866775"/>
          </a:xfrm>
          <a:prstGeom prst="rect">
            <a:avLst/>
          </a:prstGeom>
          <a:noFill/>
          <a:ln>
            <a:noFill/>
          </a:ln>
        </p:spPr>
      </p:pic>
      <p:sp>
        <p:nvSpPr>
          <p:cNvPr id="86" name="Google Shape;86;p13"/>
          <p:cNvSpPr txBox="1"/>
          <p:nvPr/>
        </p:nvSpPr>
        <p:spPr>
          <a:xfrm>
            <a:off x="766500" y="1212597"/>
            <a:ext cx="7611000" cy="221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500" u="none" cap="none" strike="noStrike">
                <a:solidFill>
                  <a:srgbClr val="FAF9F6"/>
                </a:solidFill>
                <a:latin typeface="Plus Jakarta Sans"/>
                <a:ea typeface="Plus Jakarta Sans"/>
                <a:cs typeface="Plus Jakarta Sans"/>
                <a:sym typeface="Plus Jakarta Sans"/>
              </a:rPr>
              <a:t>Technology Partnerships for </a:t>
            </a:r>
            <a:br>
              <a:rPr b="0" i="0" lang="en-US" sz="1800" u="none" cap="none" strike="noStrike">
                <a:solidFill>
                  <a:schemeClr val="dk1"/>
                </a:solidFill>
                <a:latin typeface="Calibri"/>
                <a:ea typeface="Calibri"/>
                <a:cs typeface="Calibri"/>
                <a:sym typeface="Calibri"/>
              </a:rPr>
            </a:br>
            <a:r>
              <a:rPr b="1" i="0" lang="en-US" sz="4500" u="none" cap="none" strike="noStrike">
                <a:solidFill>
                  <a:srgbClr val="10B981"/>
                </a:solidFill>
                <a:latin typeface="Plus Jakarta Sans"/>
                <a:ea typeface="Plus Jakarta Sans"/>
                <a:cs typeface="Plus Jakarta Sans"/>
                <a:sym typeface="Plus Jakarta Sans"/>
              </a:rPr>
              <a:t>Sustainable Development</a:t>
            </a:r>
            <a:endParaRPr/>
          </a:p>
        </p:txBody>
      </p:sp>
      <p:sp>
        <p:nvSpPr>
          <p:cNvPr id="87" name="Google Shape;87;p13"/>
          <p:cNvSpPr txBox="1"/>
          <p:nvPr/>
        </p:nvSpPr>
        <p:spPr>
          <a:xfrm>
            <a:off x="762000" y="3469034"/>
            <a:ext cx="8096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BFB8"/>
                </a:solidFill>
                <a:latin typeface="Plus Jakarta Sans"/>
                <a:ea typeface="Plus Jakarta Sans"/>
                <a:cs typeface="Plus Jakarta Sans"/>
                <a:sym typeface="Plus Jakarta Sans"/>
              </a:rPr>
              <a:t>Analyzing the convergence of AI computation infrastructure, global climate modeling, and professional green skills under the UN SDG 17 Framework.</a:t>
            </a:r>
            <a:endParaRPr/>
          </a:p>
        </p:txBody>
      </p:sp>
      <p:sp>
        <p:nvSpPr>
          <p:cNvPr id="88" name="Google Shape;88;p13"/>
          <p:cNvSpPr txBox="1"/>
          <p:nvPr/>
        </p:nvSpPr>
        <p:spPr>
          <a:xfrm>
            <a:off x="1009650" y="4693890"/>
            <a:ext cx="23717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73958E"/>
                </a:solidFill>
                <a:latin typeface="Plus Jakarta Sans"/>
                <a:ea typeface="Plus Jakarta Sans"/>
                <a:cs typeface="Plus Jakarta Sans"/>
                <a:sym typeface="Plus Jakarta Sans"/>
              </a:rPr>
              <a:t>PRESENTER NAME</a:t>
            </a:r>
            <a:endParaRPr/>
          </a:p>
        </p:txBody>
      </p:sp>
      <p:sp>
        <p:nvSpPr>
          <p:cNvPr id="89" name="Google Shape;89;p13"/>
          <p:cNvSpPr txBox="1"/>
          <p:nvPr/>
        </p:nvSpPr>
        <p:spPr>
          <a:xfrm>
            <a:off x="1009650" y="4865340"/>
            <a:ext cx="2371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AF9F6"/>
                </a:solidFill>
                <a:latin typeface="Plus Jakarta Sans SemiBold"/>
                <a:ea typeface="Plus Jakarta Sans SemiBold"/>
                <a:cs typeface="Plus Jakarta Sans SemiBold"/>
                <a:sym typeface="Plus Jakarta Sans SemiBold"/>
              </a:rPr>
              <a:t>Patel San</a:t>
            </a:r>
            <a:r>
              <a:rPr lang="en-US" sz="1200">
                <a:solidFill>
                  <a:srgbClr val="FAF9F6"/>
                </a:solidFill>
                <a:latin typeface="Plus Jakarta Sans SemiBold"/>
                <a:ea typeface="Plus Jakarta Sans SemiBold"/>
                <a:cs typeface="Plus Jakarta Sans SemiBold"/>
                <a:sym typeface="Plus Jakarta Sans SemiBold"/>
              </a:rPr>
              <a:t>i Ishvarbhai</a:t>
            </a:r>
            <a:endParaRPr/>
          </a:p>
        </p:txBody>
      </p:sp>
      <p:sp>
        <p:nvSpPr>
          <p:cNvPr id="90" name="Google Shape;90;p13"/>
          <p:cNvSpPr txBox="1"/>
          <p:nvPr/>
        </p:nvSpPr>
        <p:spPr>
          <a:xfrm>
            <a:off x="3609975" y="4693890"/>
            <a:ext cx="23717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73958E"/>
                </a:solidFill>
                <a:latin typeface="Plus Jakarta Sans"/>
                <a:ea typeface="Plus Jakarta Sans"/>
                <a:cs typeface="Plus Jakarta Sans"/>
                <a:sym typeface="Plus Jakarta Sans"/>
              </a:rPr>
              <a:t>ENROLLMENT NUMBER</a:t>
            </a:r>
            <a:endParaRPr/>
          </a:p>
        </p:txBody>
      </p:sp>
      <p:sp>
        <p:nvSpPr>
          <p:cNvPr id="91" name="Google Shape;91;p13"/>
          <p:cNvSpPr txBox="1"/>
          <p:nvPr/>
        </p:nvSpPr>
        <p:spPr>
          <a:xfrm>
            <a:off x="3609975" y="4865340"/>
            <a:ext cx="2371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AF9F6"/>
                </a:solidFill>
                <a:latin typeface="Space Grotesk SemiBold"/>
                <a:ea typeface="Space Grotesk SemiBold"/>
                <a:cs typeface="Space Grotesk SemiBold"/>
                <a:sym typeface="Space Grotesk SemiBold"/>
              </a:rPr>
              <a:t>230</a:t>
            </a:r>
            <a:r>
              <a:rPr lang="en-US" sz="1200">
                <a:solidFill>
                  <a:srgbClr val="FAF9F6"/>
                </a:solidFill>
                <a:latin typeface="Space Grotesk SemiBold"/>
                <a:ea typeface="Space Grotesk SemiBold"/>
                <a:cs typeface="Space Grotesk SemiBold"/>
                <a:sym typeface="Space Grotesk SemiBold"/>
              </a:rPr>
              <a:t>840131122</a:t>
            </a:r>
            <a:endParaRPr/>
          </a:p>
        </p:txBody>
      </p:sp>
      <p:sp>
        <p:nvSpPr>
          <p:cNvPr id="92" name="Google Shape;92;p13"/>
          <p:cNvSpPr txBox="1"/>
          <p:nvPr/>
        </p:nvSpPr>
        <p:spPr>
          <a:xfrm>
            <a:off x="6210300" y="4693890"/>
            <a:ext cx="23717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73958E"/>
                </a:solidFill>
                <a:latin typeface="Plus Jakarta Sans"/>
                <a:ea typeface="Plus Jakarta Sans"/>
                <a:cs typeface="Plus Jakarta Sans"/>
                <a:sym typeface="Plus Jakarta Sans"/>
              </a:rPr>
              <a:t>ACADEMIC STREAM</a:t>
            </a:r>
            <a:endParaRPr/>
          </a:p>
        </p:txBody>
      </p:sp>
      <p:sp>
        <p:nvSpPr>
          <p:cNvPr id="93" name="Google Shape;93;p13"/>
          <p:cNvSpPr txBox="1"/>
          <p:nvPr/>
        </p:nvSpPr>
        <p:spPr>
          <a:xfrm>
            <a:off x="6210300" y="4865340"/>
            <a:ext cx="2371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AF9F6"/>
                </a:solidFill>
                <a:latin typeface="Plus Jakarta Sans SemiBold"/>
                <a:ea typeface="Plus Jakarta Sans SemiBold"/>
                <a:cs typeface="Plus Jakarta Sans SemiBold"/>
                <a:sym typeface="Plus Jakarta Sans SemiBold"/>
              </a:rPr>
              <a:t>Computer Sci. &amp; Engg.</a:t>
            </a:r>
            <a:endParaRPr/>
          </a:p>
        </p:txBody>
      </p:sp>
      <p:sp>
        <p:nvSpPr>
          <p:cNvPr id="94" name="Google Shape;94;p13"/>
          <p:cNvSpPr txBox="1"/>
          <p:nvPr/>
        </p:nvSpPr>
        <p:spPr>
          <a:xfrm>
            <a:off x="8810625" y="4693890"/>
            <a:ext cx="23717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73958E"/>
                </a:solidFill>
                <a:latin typeface="Plus Jakarta Sans"/>
                <a:ea typeface="Plus Jakarta Sans"/>
                <a:cs typeface="Plus Jakarta Sans"/>
                <a:sym typeface="Plus Jakarta Sans"/>
              </a:rPr>
              <a:t>HOST INSTITUTION</a:t>
            </a:r>
            <a:endParaRPr/>
          </a:p>
        </p:txBody>
      </p:sp>
      <p:sp>
        <p:nvSpPr>
          <p:cNvPr id="95" name="Google Shape;95;p13"/>
          <p:cNvSpPr txBox="1"/>
          <p:nvPr/>
        </p:nvSpPr>
        <p:spPr>
          <a:xfrm>
            <a:off x="8810625" y="4865340"/>
            <a:ext cx="23717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AF9F6"/>
                </a:solidFill>
                <a:latin typeface="Plus Jakarta Sans SemiBold"/>
                <a:ea typeface="Plus Jakarta Sans SemiBold"/>
                <a:cs typeface="Plus Jakarta Sans SemiBold"/>
                <a:sym typeface="Plus Jakarta Sans SemiBold"/>
              </a:rPr>
              <a:t>R. N. G. Patel Inst. of Tech.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2C"/>
        </a:solidFill>
      </p:bgPr>
    </p:bg>
    <p:spTree>
      <p:nvGrpSpPr>
        <p:cNvPr id="99" name="Shape 99"/>
        <p:cNvGrpSpPr/>
        <p:nvPr/>
      </p:nvGrpSpPr>
      <p:grpSpPr>
        <a:xfrm>
          <a:off x="0" y="0"/>
          <a:ext cx="0" cy="0"/>
          <a:chOff x="0" y="0"/>
          <a:chExt cx="0" cy="0"/>
        </a:xfrm>
      </p:grpSpPr>
      <p:pic>
        <p:nvPicPr>
          <p:cNvPr descr="image.png"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4"/>
          <p:cNvSpPr/>
          <p:nvPr/>
        </p:nvSpPr>
        <p:spPr>
          <a:xfrm>
            <a:off x="5715000" y="2676525"/>
            <a:ext cx="762000" cy="381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4"/>
          <p:cNvSpPr txBox="1"/>
          <p:nvPr/>
        </p:nvSpPr>
        <p:spPr>
          <a:xfrm>
            <a:off x="2840593" y="2952750"/>
            <a:ext cx="6510813"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AF9F6"/>
                </a:solidFill>
                <a:latin typeface="Plus Jakarta Sans"/>
                <a:ea typeface="Plus Jakarta Sans"/>
                <a:cs typeface="Plus Jakarta Sans"/>
                <a:sym typeface="Plus Jakarta Sans"/>
              </a:rPr>
              <a:t>01 / Digital Tool Exercises</a:t>
            </a:r>
            <a:endParaRPr/>
          </a:p>
        </p:txBody>
      </p:sp>
      <p:sp>
        <p:nvSpPr>
          <p:cNvPr id="103" name="Google Shape;103;p14"/>
          <p:cNvSpPr txBox="1"/>
          <p:nvPr/>
        </p:nvSpPr>
        <p:spPr>
          <a:xfrm>
            <a:off x="2762250" y="3810000"/>
            <a:ext cx="66675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A3BFB8"/>
                </a:solidFill>
                <a:latin typeface="Plus Jakarta Sans"/>
                <a:ea typeface="Plus Jakarta Sans"/>
                <a:cs typeface="Plus Jakarta Sans"/>
                <a:sym typeface="Plus Jakarta Sans"/>
              </a:rPr>
              <a:t>Hands-on validation of environmental metrics using simulator portals and carbon calculations.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15"/>
          <p:cNvPicPr preferRelativeResize="0"/>
          <p:nvPr/>
        </p:nvPicPr>
        <p:blipFill rotWithShape="1">
          <a:blip r:embed="rId4">
            <a:alphaModFix/>
          </a:blip>
          <a:srcRect b="0" l="0" r="0" t="0"/>
          <a:stretch/>
        </p:blipFill>
        <p:spPr>
          <a:xfrm>
            <a:off x="6310312" y="1967805"/>
            <a:ext cx="5119687" cy="3619500"/>
          </a:xfrm>
          <a:prstGeom prst="rect">
            <a:avLst/>
          </a:prstGeom>
          <a:noFill/>
          <a:ln>
            <a:noFill/>
          </a:ln>
        </p:spPr>
      </p:pic>
      <p:sp>
        <p:nvSpPr>
          <p:cNvPr id="110" name="Google Shape;110;p15"/>
          <p:cNvSpPr txBox="1"/>
          <p:nvPr/>
        </p:nvSpPr>
        <p:spPr>
          <a:xfrm>
            <a:off x="762000" y="2416373"/>
            <a:ext cx="5119687"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B3C2C"/>
                </a:solidFill>
                <a:latin typeface="Plus Jakarta Sans SemiBold"/>
                <a:ea typeface="Plus Jakarta Sans SemiBold"/>
                <a:cs typeface="Plus Jakarta Sans SemiBold"/>
                <a:sym typeface="Plus Jakarta Sans SemiBold"/>
              </a:rPr>
              <a:t>Interactive Climate Mitigation Analysis</a:t>
            </a:r>
            <a:endParaRPr/>
          </a:p>
        </p:txBody>
      </p:sp>
      <p:sp>
        <p:nvSpPr>
          <p:cNvPr id="111" name="Google Shape;111;p15"/>
          <p:cNvSpPr txBox="1"/>
          <p:nvPr/>
        </p:nvSpPr>
        <p:spPr>
          <a:xfrm>
            <a:off x="1047750" y="2881163"/>
            <a:ext cx="48339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Systemic Policy Simulation:</a:t>
            </a:r>
            <a:r>
              <a:rPr b="0" i="0" lang="en-US" sz="1125" u="none" cap="none" strike="noStrike">
                <a:solidFill>
                  <a:srgbClr val="2F3E3A"/>
                </a:solidFill>
                <a:latin typeface="Plus Jakarta Sans"/>
                <a:ea typeface="Plus Jakarta Sans"/>
                <a:cs typeface="Plus Jakarta Sans"/>
                <a:sym typeface="Plus Jakarta Sans"/>
              </a:rPr>
              <a:t> Tested mitigation paths in the En-ROADS global simulator, proving technology alone cannot halt temperature rises.</a:t>
            </a:r>
            <a:endParaRPr/>
          </a:p>
        </p:txBody>
      </p:sp>
      <p:sp>
        <p:nvSpPr>
          <p:cNvPr id="112" name="Google Shape;112;p15"/>
          <p:cNvSpPr txBox="1"/>
          <p:nvPr/>
        </p:nvSpPr>
        <p:spPr>
          <a:xfrm>
            <a:off x="1047750" y="3709838"/>
            <a:ext cx="48339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Multilateral Synergies:</a:t>
            </a:r>
            <a:r>
              <a:rPr b="0" i="0" lang="en-US" sz="1125" u="none" cap="none" strike="noStrike">
                <a:solidFill>
                  <a:srgbClr val="2F3E3A"/>
                </a:solidFill>
                <a:latin typeface="Plus Jakarta Sans"/>
                <a:ea typeface="Plus Jakarta Sans"/>
                <a:cs typeface="Plus Jakarta Sans"/>
                <a:sym typeface="Plus Jakarta Sans"/>
              </a:rPr>
              <a:t> Reaching a sub-2°C warming path requires carbon pricing, energy efficiency, and direct fossil disincentives working in tandem.</a:t>
            </a:r>
            <a:endParaRPr/>
          </a:p>
        </p:txBody>
      </p:sp>
      <p:sp>
        <p:nvSpPr>
          <p:cNvPr id="113" name="Google Shape;113;p15"/>
          <p:cNvSpPr txBox="1"/>
          <p:nvPr/>
        </p:nvSpPr>
        <p:spPr>
          <a:xfrm>
            <a:off x="1047750" y="4538513"/>
            <a:ext cx="48339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Academic Insight:</a:t>
            </a:r>
            <a:r>
              <a:rPr b="0" i="0" lang="en-US" sz="1125" u="none" cap="none" strike="noStrike">
                <a:solidFill>
                  <a:srgbClr val="2F3E3A"/>
                </a:solidFill>
                <a:latin typeface="Plus Jakarta Sans"/>
                <a:ea typeface="Plus Jakarta Sans"/>
                <a:cs typeface="Plus Jakarta Sans"/>
                <a:sym typeface="Plus Jakarta Sans"/>
              </a:rPr>
              <a:t> Outlines the foundational basis of SDG 17—global partnerships are mandatory to deploy technology equitably.</a:t>
            </a:r>
            <a:endParaRPr/>
          </a:p>
        </p:txBody>
      </p:sp>
      <p:pic>
        <p:nvPicPr>
          <p:cNvPr descr="image.png" id="114" name="Google Shape;114;p15"/>
          <p:cNvPicPr preferRelativeResize="0"/>
          <p:nvPr/>
        </p:nvPicPr>
        <p:blipFill rotWithShape="1">
          <a:blip r:embed="rId5">
            <a:alphaModFix/>
          </a:blip>
          <a:srcRect b="0" l="0" r="0" t="0"/>
          <a:stretch/>
        </p:blipFill>
        <p:spPr>
          <a:xfrm>
            <a:off x="6319837" y="1977330"/>
            <a:ext cx="5100637" cy="3600450"/>
          </a:xfrm>
          <a:prstGeom prst="rect">
            <a:avLst/>
          </a:prstGeom>
          <a:noFill/>
          <a:ln>
            <a:noFill/>
          </a:ln>
        </p:spPr>
      </p:pic>
      <p:sp>
        <p:nvSpPr>
          <p:cNvPr id="115" name="Google Shape;115;p15"/>
          <p:cNvSpPr txBox="1"/>
          <p:nvPr/>
        </p:nvSpPr>
        <p:spPr>
          <a:xfrm>
            <a:off x="762000" y="2900213"/>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16" name="Google Shape;116;p15"/>
          <p:cNvSpPr txBox="1"/>
          <p:nvPr/>
        </p:nvSpPr>
        <p:spPr>
          <a:xfrm>
            <a:off x="762000" y="3728888"/>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17" name="Google Shape;117;p15"/>
          <p:cNvSpPr txBox="1"/>
          <p:nvPr/>
        </p:nvSpPr>
        <p:spPr>
          <a:xfrm>
            <a:off x="762000" y="4557563"/>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18" name="Google Shape;118;p15"/>
          <p:cNvSpPr txBox="1"/>
          <p:nvPr/>
        </p:nvSpPr>
        <p:spPr>
          <a:xfrm>
            <a:off x="933450" y="571500"/>
            <a:ext cx="11021377" cy="4113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Global CO2 Modeling: MIT En-ROADS</a:t>
            </a:r>
            <a:endParaRPr/>
          </a:p>
        </p:txBody>
      </p:sp>
      <p:sp>
        <p:nvSpPr>
          <p:cNvPr id="119" name="Google Shape;119;p15"/>
          <p:cNvSpPr/>
          <p:nvPr/>
        </p:nvSpPr>
        <p:spPr>
          <a:xfrm>
            <a:off x="762000" y="571500"/>
            <a:ext cx="47625" cy="41136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123" name="Shape 123"/>
        <p:cNvGrpSpPr/>
        <p:nvPr/>
      </p:nvGrpSpPr>
      <p:grpSpPr>
        <a:xfrm>
          <a:off x="0" y="0"/>
          <a:ext cx="0" cy="0"/>
          <a:chOff x="0" y="0"/>
          <a:chExt cx="0" cy="0"/>
        </a:xfrm>
      </p:grpSpPr>
      <p:pic>
        <p:nvPicPr>
          <p:cNvPr descr="image.png" id="124" name="Google Shape;12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5" name="Google Shape;125;p16"/>
          <p:cNvPicPr preferRelativeResize="0"/>
          <p:nvPr/>
        </p:nvPicPr>
        <p:blipFill rotWithShape="1">
          <a:blip r:embed="rId4">
            <a:alphaModFix/>
          </a:blip>
          <a:srcRect b="0" l="0" r="0" t="0"/>
          <a:stretch/>
        </p:blipFill>
        <p:spPr>
          <a:xfrm>
            <a:off x="6310312" y="1967805"/>
            <a:ext cx="5119687" cy="3619500"/>
          </a:xfrm>
          <a:prstGeom prst="rect">
            <a:avLst/>
          </a:prstGeom>
          <a:noFill/>
          <a:ln>
            <a:noFill/>
          </a:ln>
        </p:spPr>
      </p:pic>
      <p:sp>
        <p:nvSpPr>
          <p:cNvPr id="126" name="Google Shape;126;p16"/>
          <p:cNvSpPr txBox="1"/>
          <p:nvPr/>
        </p:nvSpPr>
        <p:spPr>
          <a:xfrm>
            <a:off x="762000" y="2530673"/>
            <a:ext cx="5119687"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B3C2C"/>
                </a:solidFill>
                <a:latin typeface="Plus Jakarta Sans SemiBold"/>
                <a:ea typeface="Plus Jakarta Sans SemiBold"/>
                <a:cs typeface="Plus Jakarta Sans SemiBold"/>
                <a:sym typeface="Plus Jakarta Sans SemiBold"/>
              </a:rPr>
              <a:t>Tracking Supply-Chain Ecological Costs</a:t>
            </a:r>
            <a:endParaRPr/>
          </a:p>
        </p:txBody>
      </p:sp>
      <p:sp>
        <p:nvSpPr>
          <p:cNvPr id="127" name="Google Shape;127;p16"/>
          <p:cNvSpPr txBox="1"/>
          <p:nvPr/>
        </p:nvSpPr>
        <p:spPr>
          <a:xfrm>
            <a:off x="1047750" y="2995463"/>
            <a:ext cx="48339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Multi-modal Freight Diagnostics:</a:t>
            </a:r>
            <a:r>
              <a:rPr b="0" i="0" lang="en-US" sz="1125" u="none" cap="none" strike="noStrike">
                <a:solidFill>
                  <a:srgbClr val="2F3E3A"/>
                </a:solidFill>
                <a:latin typeface="Plus Jakarta Sans"/>
                <a:ea typeface="Plus Jakarta Sans"/>
                <a:cs typeface="Plus Jakarta Sans"/>
                <a:sym typeface="Plus Jakarta Sans"/>
              </a:rPr>
              <a:t> Used EcoTransit World calculators to compare air cargo carbon outputs against electrified rail paths.</a:t>
            </a:r>
            <a:endParaRPr/>
          </a:p>
        </p:txBody>
      </p:sp>
      <p:sp>
        <p:nvSpPr>
          <p:cNvPr id="128" name="Google Shape;128;p16"/>
          <p:cNvSpPr txBox="1"/>
          <p:nvPr/>
        </p:nvSpPr>
        <p:spPr>
          <a:xfrm>
            <a:off x="1047750" y="3595538"/>
            <a:ext cx="48339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Personal Carbon Audits:</a:t>
            </a:r>
            <a:r>
              <a:rPr b="0" i="0" lang="en-US" sz="1125" u="none" cap="none" strike="noStrike">
                <a:solidFill>
                  <a:srgbClr val="2F3E3A"/>
                </a:solidFill>
                <a:latin typeface="Plus Jakarta Sans"/>
                <a:ea typeface="Plus Jakarta Sans"/>
                <a:cs typeface="Plus Jakarta Sans"/>
                <a:sym typeface="Plus Jakarta Sans"/>
              </a:rPr>
              <a:t> Evaluated domestic operational metrics showing how direct consumer food, energy, and travel behaviors compose global demand.</a:t>
            </a:r>
            <a:endParaRPr/>
          </a:p>
        </p:txBody>
      </p:sp>
      <p:sp>
        <p:nvSpPr>
          <p:cNvPr id="129" name="Google Shape;129;p16"/>
          <p:cNvSpPr txBox="1"/>
          <p:nvPr/>
        </p:nvSpPr>
        <p:spPr>
          <a:xfrm>
            <a:off x="1047750" y="4424213"/>
            <a:ext cx="48339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Data Integration:</a:t>
            </a:r>
            <a:r>
              <a:rPr b="0" i="0" lang="en-US" sz="1125" u="none" cap="none" strike="noStrike">
                <a:solidFill>
                  <a:srgbClr val="2F3E3A"/>
                </a:solidFill>
                <a:latin typeface="Plus Jakarta Sans"/>
                <a:ea typeface="Plus Jakarta Sans"/>
                <a:cs typeface="Plus Jakarta Sans"/>
                <a:sym typeface="Plus Jakarta Sans"/>
              </a:rPr>
              <a:t> Formulates baseline carbon indices, crucial for training smart, predictive carbon optimization models.</a:t>
            </a:r>
            <a:endParaRPr/>
          </a:p>
        </p:txBody>
      </p:sp>
      <p:pic>
        <p:nvPicPr>
          <p:cNvPr descr="image.png" id="130" name="Google Shape;130;p16"/>
          <p:cNvPicPr preferRelativeResize="0"/>
          <p:nvPr/>
        </p:nvPicPr>
        <p:blipFill rotWithShape="1">
          <a:blip r:embed="rId5">
            <a:alphaModFix/>
          </a:blip>
          <a:srcRect b="0" l="0" r="0" t="0"/>
          <a:stretch/>
        </p:blipFill>
        <p:spPr>
          <a:xfrm>
            <a:off x="6319837" y="1977330"/>
            <a:ext cx="5100637" cy="3600450"/>
          </a:xfrm>
          <a:prstGeom prst="rect">
            <a:avLst/>
          </a:prstGeom>
          <a:noFill/>
          <a:ln>
            <a:noFill/>
          </a:ln>
        </p:spPr>
      </p:pic>
      <p:sp>
        <p:nvSpPr>
          <p:cNvPr id="131" name="Google Shape;131;p16"/>
          <p:cNvSpPr txBox="1"/>
          <p:nvPr/>
        </p:nvSpPr>
        <p:spPr>
          <a:xfrm>
            <a:off x="762000" y="3014513"/>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32" name="Google Shape;132;p16"/>
          <p:cNvSpPr txBox="1"/>
          <p:nvPr/>
        </p:nvSpPr>
        <p:spPr>
          <a:xfrm>
            <a:off x="762000" y="3614588"/>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33" name="Google Shape;133;p16"/>
          <p:cNvSpPr txBox="1"/>
          <p:nvPr/>
        </p:nvSpPr>
        <p:spPr>
          <a:xfrm>
            <a:off x="762000" y="4443263"/>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34" name="Google Shape;134;p16"/>
          <p:cNvSpPr txBox="1"/>
          <p:nvPr/>
        </p:nvSpPr>
        <p:spPr>
          <a:xfrm>
            <a:off x="933450" y="571500"/>
            <a:ext cx="11021377" cy="4113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Ecotransit &amp; Footprint Calculators</a:t>
            </a:r>
            <a:endParaRPr/>
          </a:p>
        </p:txBody>
      </p:sp>
      <p:sp>
        <p:nvSpPr>
          <p:cNvPr id="135" name="Google Shape;135;p16"/>
          <p:cNvSpPr/>
          <p:nvPr/>
        </p:nvSpPr>
        <p:spPr>
          <a:xfrm>
            <a:off x="762000" y="571500"/>
            <a:ext cx="47625" cy="41136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139" name="Shape 139"/>
        <p:cNvGrpSpPr/>
        <p:nvPr/>
      </p:nvGrpSpPr>
      <p:grpSpPr>
        <a:xfrm>
          <a:off x="0" y="0"/>
          <a:ext cx="0" cy="0"/>
          <a:chOff x="0" y="0"/>
          <a:chExt cx="0" cy="0"/>
        </a:xfrm>
      </p:grpSpPr>
      <p:pic>
        <p:nvPicPr>
          <p:cNvPr descr="image.png" id="140" name="Google Shape;14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1" name="Google Shape;141;p17"/>
          <p:cNvPicPr preferRelativeResize="0"/>
          <p:nvPr/>
        </p:nvPicPr>
        <p:blipFill rotWithShape="1">
          <a:blip r:embed="rId4">
            <a:alphaModFix/>
          </a:blip>
          <a:srcRect b="0" l="0" r="0" t="0"/>
          <a:stretch/>
        </p:blipFill>
        <p:spPr>
          <a:xfrm>
            <a:off x="6310312" y="1967805"/>
            <a:ext cx="5119687" cy="3619500"/>
          </a:xfrm>
          <a:prstGeom prst="rect">
            <a:avLst/>
          </a:prstGeom>
          <a:noFill/>
          <a:ln>
            <a:noFill/>
          </a:ln>
        </p:spPr>
      </p:pic>
      <p:sp>
        <p:nvSpPr>
          <p:cNvPr id="142" name="Google Shape;142;p17"/>
          <p:cNvSpPr txBox="1"/>
          <p:nvPr/>
        </p:nvSpPr>
        <p:spPr>
          <a:xfrm>
            <a:off x="762000" y="2530673"/>
            <a:ext cx="5119687"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B3C2C"/>
                </a:solidFill>
                <a:latin typeface="Plus Jakarta Sans SemiBold"/>
                <a:ea typeface="Plus Jakarta Sans SemiBold"/>
                <a:cs typeface="Plus Jakarta Sans SemiBold"/>
                <a:sym typeface="Plus Jakarta Sans SemiBold"/>
              </a:rPr>
              <a:t>India EV Transition Calculator Analytics</a:t>
            </a:r>
            <a:endParaRPr/>
          </a:p>
        </p:txBody>
      </p:sp>
      <p:sp>
        <p:nvSpPr>
          <p:cNvPr id="143" name="Google Shape;143;p17"/>
          <p:cNvSpPr txBox="1"/>
          <p:nvPr/>
        </p:nvSpPr>
        <p:spPr>
          <a:xfrm>
            <a:off x="1047750" y="2995463"/>
            <a:ext cx="48339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Tailpipe vs. Lifecycle Evaluation:</a:t>
            </a:r>
            <a:r>
              <a:rPr b="0" i="0" lang="en-US" sz="1125" u="none" cap="none" strike="noStrike">
                <a:solidFill>
                  <a:srgbClr val="2F3E3A"/>
                </a:solidFill>
                <a:latin typeface="Plus Jakarta Sans"/>
                <a:ea typeface="Plus Jakarta Sans"/>
                <a:cs typeface="Plus Jakarta Sans"/>
                <a:sym typeface="Plus Jakarta Sans"/>
              </a:rPr>
              <a:t> Explored the government's official e-AMRIT portal to assess EV grid emission trade-offs.</a:t>
            </a:r>
            <a:endParaRPr/>
          </a:p>
        </p:txBody>
      </p:sp>
      <p:sp>
        <p:nvSpPr>
          <p:cNvPr id="144" name="Google Shape;144;p17"/>
          <p:cNvSpPr txBox="1"/>
          <p:nvPr/>
        </p:nvSpPr>
        <p:spPr>
          <a:xfrm>
            <a:off x="1047750" y="3595538"/>
            <a:ext cx="48339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Regional Savings Model:</a:t>
            </a:r>
            <a:r>
              <a:rPr b="0" i="0" lang="en-US" sz="1125" u="none" cap="none" strike="noStrike">
                <a:solidFill>
                  <a:srgbClr val="2F3E3A"/>
                </a:solidFill>
                <a:latin typeface="Plus Jakarta Sans"/>
                <a:ea typeface="Plus Jakarta Sans"/>
                <a:cs typeface="Plus Jakarta Sans"/>
                <a:sym typeface="Plus Jakarta Sans"/>
              </a:rPr>
              <a:t> Swapping standard internal combustion vehicles with electric fleets results in up to 45% lower greenhouse emissions.</a:t>
            </a:r>
            <a:endParaRPr/>
          </a:p>
        </p:txBody>
      </p:sp>
      <p:sp>
        <p:nvSpPr>
          <p:cNvPr id="145" name="Google Shape;145;p17"/>
          <p:cNvSpPr txBox="1"/>
          <p:nvPr/>
        </p:nvSpPr>
        <p:spPr>
          <a:xfrm>
            <a:off x="1047750" y="4424213"/>
            <a:ext cx="48339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0B3C2C"/>
                </a:solidFill>
                <a:latin typeface="Plus Jakarta Sans"/>
                <a:ea typeface="Plus Jakarta Sans"/>
                <a:cs typeface="Plus Jakarta Sans"/>
                <a:sym typeface="Plus Jakarta Sans"/>
              </a:rPr>
              <a:t>Grid Integration Challenge:</a:t>
            </a:r>
            <a:r>
              <a:rPr b="0" i="0" lang="en-US" sz="1125" u="none" cap="none" strike="noStrike">
                <a:solidFill>
                  <a:srgbClr val="2F3E3A"/>
                </a:solidFill>
                <a:latin typeface="Plus Jakarta Sans"/>
                <a:ea typeface="Plus Jakarta Sans"/>
                <a:cs typeface="Plus Jakarta Sans"/>
                <a:sym typeface="Plus Jakarta Sans"/>
              </a:rPr>
              <a:t> Emphasizes the crucial requirement for intelligent smart grid load balancing (EcoGrid-AI proposal).</a:t>
            </a:r>
            <a:endParaRPr/>
          </a:p>
        </p:txBody>
      </p:sp>
      <p:pic>
        <p:nvPicPr>
          <p:cNvPr descr="image.png" id="146" name="Google Shape;146;p17"/>
          <p:cNvPicPr preferRelativeResize="0"/>
          <p:nvPr/>
        </p:nvPicPr>
        <p:blipFill rotWithShape="1">
          <a:blip r:embed="rId5">
            <a:alphaModFix/>
          </a:blip>
          <a:srcRect b="0" l="0" r="0" t="0"/>
          <a:stretch/>
        </p:blipFill>
        <p:spPr>
          <a:xfrm>
            <a:off x="6319837" y="1977330"/>
            <a:ext cx="5100637" cy="3600450"/>
          </a:xfrm>
          <a:prstGeom prst="rect">
            <a:avLst/>
          </a:prstGeom>
          <a:noFill/>
          <a:ln>
            <a:noFill/>
          </a:ln>
        </p:spPr>
      </p:pic>
      <p:sp>
        <p:nvSpPr>
          <p:cNvPr id="147" name="Google Shape;147;p17"/>
          <p:cNvSpPr txBox="1"/>
          <p:nvPr/>
        </p:nvSpPr>
        <p:spPr>
          <a:xfrm>
            <a:off x="762000" y="3014513"/>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48" name="Google Shape;148;p17"/>
          <p:cNvSpPr txBox="1"/>
          <p:nvPr/>
        </p:nvSpPr>
        <p:spPr>
          <a:xfrm>
            <a:off x="762000" y="3614588"/>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49" name="Google Shape;149;p17"/>
          <p:cNvSpPr txBox="1"/>
          <p:nvPr/>
        </p:nvSpPr>
        <p:spPr>
          <a:xfrm>
            <a:off x="762000" y="4443263"/>
            <a:ext cx="66675" cy="180975"/>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a:t>
            </a:r>
            <a:endParaRPr/>
          </a:p>
        </p:txBody>
      </p:sp>
      <p:sp>
        <p:nvSpPr>
          <p:cNvPr id="150" name="Google Shape;150;p17"/>
          <p:cNvSpPr txBox="1"/>
          <p:nvPr/>
        </p:nvSpPr>
        <p:spPr>
          <a:xfrm>
            <a:off x="933450" y="571500"/>
            <a:ext cx="11021377" cy="4113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National Action: NITI Aayog E-Amrit</a:t>
            </a:r>
            <a:endParaRPr/>
          </a:p>
        </p:txBody>
      </p:sp>
      <p:sp>
        <p:nvSpPr>
          <p:cNvPr id="151" name="Google Shape;151;p17"/>
          <p:cNvSpPr/>
          <p:nvPr/>
        </p:nvSpPr>
        <p:spPr>
          <a:xfrm>
            <a:off x="762000" y="571500"/>
            <a:ext cx="47625" cy="41136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2C"/>
        </a:solidFill>
      </p:bgPr>
    </p:bg>
    <p:spTree>
      <p:nvGrpSpPr>
        <p:cNvPr id="155" name="Shape 155"/>
        <p:cNvGrpSpPr/>
        <p:nvPr/>
      </p:nvGrpSpPr>
      <p:grpSpPr>
        <a:xfrm>
          <a:off x="0" y="0"/>
          <a:ext cx="0" cy="0"/>
          <a:chOff x="0" y="0"/>
          <a:chExt cx="0" cy="0"/>
        </a:xfrm>
      </p:grpSpPr>
      <p:pic>
        <p:nvPicPr>
          <p:cNvPr descr="image.png" id="156" name="Google Shape;156;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7" name="Google Shape;157;p18"/>
          <p:cNvSpPr/>
          <p:nvPr/>
        </p:nvSpPr>
        <p:spPr>
          <a:xfrm>
            <a:off x="5715000" y="2676525"/>
            <a:ext cx="762000" cy="381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8"/>
          <p:cNvSpPr txBox="1"/>
          <p:nvPr/>
        </p:nvSpPr>
        <p:spPr>
          <a:xfrm>
            <a:off x="2025491" y="2952750"/>
            <a:ext cx="8141017"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AF9F6"/>
                </a:solidFill>
                <a:latin typeface="Plus Jakarta Sans"/>
                <a:ea typeface="Plus Jakarta Sans"/>
                <a:cs typeface="Plus Jakarta Sans"/>
                <a:sym typeface="Plus Jakarta Sans"/>
              </a:rPr>
              <a:t>02 / Environmental Diagnostics</a:t>
            </a:r>
            <a:endParaRPr/>
          </a:p>
        </p:txBody>
      </p:sp>
      <p:sp>
        <p:nvSpPr>
          <p:cNvPr id="159" name="Google Shape;159;p18"/>
          <p:cNvSpPr txBox="1"/>
          <p:nvPr/>
        </p:nvSpPr>
        <p:spPr>
          <a:xfrm>
            <a:off x="2762250" y="3810000"/>
            <a:ext cx="66675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A3BFB8"/>
                </a:solidFill>
                <a:latin typeface="Plus Jakarta Sans"/>
                <a:ea typeface="Plus Jakarta Sans"/>
                <a:cs typeface="Plus Jakarta Sans"/>
                <a:sym typeface="Plus Jakarta Sans"/>
              </a:rPr>
              <a:t>Evaluating resource demands across server hubs and regional vocational frameworks.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163" name="Shape 163"/>
        <p:cNvGrpSpPr/>
        <p:nvPr/>
      </p:nvGrpSpPr>
      <p:grpSpPr>
        <a:xfrm>
          <a:off x="0" y="0"/>
          <a:ext cx="0" cy="0"/>
          <a:chOff x="0" y="0"/>
          <a:chExt cx="0" cy="0"/>
        </a:xfrm>
      </p:grpSpPr>
      <p:pic>
        <p:nvPicPr>
          <p:cNvPr descr="image.png" id="164" name="Google Shape;164;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5" name="Google Shape;165;p19"/>
          <p:cNvPicPr preferRelativeResize="0"/>
          <p:nvPr/>
        </p:nvPicPr>
        <p:blipFill rotWithShape="1">
          <a:blip r:embed="rId4">
            <a:alphaModFix/>
          </a:blip>
          <a:srcRect b="0" l="0" r="0" t="0"/>
          <a:stretch/>
        </p:blipFill>
        <p:spPr>
          <a:xfrm>
            <a:off x="762000" y="2504182"/>
            <a:ext cx="5191125" cy="2546746"/>
          </a:xfrm>
          <a:prstGeom prst="rect">
            <a:avLst/>
          </a:prstGeom>
          <a:noFill/>
          <a:ln>
            <a:noFill/>
          </a:ln>
        </p:spPr>
      </p:pic>
      <p:pic>
        <p:nvPicPr>
          <p:cNvPr descr="image.png" id="166" name="Google Shape;166;p19"/>
          <p:cNvPicPr preferRelativeResize="0"/>
          <p:nvPr/>
        </p:nvPicPr>
        <p:blipFill rotWithShape="1">
          <a:blip r:embed="rId5">
            <a:alphaModFix/>
          </a:blip>
          <a:srcRect b="0" l="0" r="0" t="0"/>
          <a:stretch/>
        </p:blipFill>
        <p:spPr>
          <a:xfrm>
            <a:off x="6238875" y="2504182"/>
            <a:ext cx="5191125" cy="2546746"/>
          </a:xfrm>
          <a:prstGeom prst="rect">
            <a:avLst/>
          </a:prstGeom>
          <a:noFill/>
          <a:ln>
            <a:noFill/>
          </a:ln>
        </p:spPr>
      </p:pic>
      <p:sp>
        <p:nvSpPr>
          <p:cNvPr id="167" name="Google Shape;167;p19"/>
          <p:cNvSpPr txBox="1"/>
          <p:nvPr/>
        </p:nvSpPr>
        <p:spPr>
          <a:xfrm>
            <a:off x="1104900" y="2847082"/>
            <a:ext cx="4505325"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10B981"/>
                </a:solidFill>
                <a:latin typeface="Space Grotesk"/>
                <a:ea typeface="Space Grotesk"/>
                <a:cs typeface="Space Grotesk"/>
                <a:sym typeface="Space Grotesk"/>
              </a:rPr>
              <a:t>2 TWh / year</a:t>
            </a:r>
            <a:endParaRPr/>
          </a:p>
        </p:txBody>
      </p:sp>
      <p:sp>
        <p:nvSpPr>
          <p:cNvPr id="168" name="Google Shape;168;p19"/>
          <p:cNvSpPr txBox="1"/>
          <p:nvPr/>
        </p:nvSpPr>
        <p:spPr>
          <a:xfrm>
            <a:off x="1104900" y="3323332"/>
            <a:ext cx="4730591"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B3C2C"/>
                </a:solidFill>
                <a:latin typeface="Plus Jakarta Sans"/>
                <a:ea typeface="Plus Jakarta Sans"/>
                <a:cs typeface="Plus Jakarta Sans"/>
                <a:sym typeface="Plus Jakarta Sans"/>
              </a:rPr>
              <a:t>Intense Grid Strain</a:t>
            </a:r>
            <a:endParaRPr/>
          </a:p>
        </p:txBody>
      </p:sp>
      <p:sp>
        <p:nvSpPr>
          <p:cNvPr id="169" name="Google Shape;169;p19"/>
          <p:cNvSpPr txBox="1"/>
          <p:nvPr/>
        </p:nvSpPr>
        <p:spPr>
          <a:xfrm>
            <a:off x="1104900" y="3732907"/>
            <a:ext cx="45053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B605B"/>
                </a:solidFill>
                <a:latin typeface="Plus Jakarta Sans"/>
                <a:ea typeface="Plus Jakarta Sans"/>
                <a:cs typeface="Plus Jakarta Sans"/>
                <a:sym typeface="Plus Jakarta Sans"/>
              </a:rPr>
              <a:t>Investigations reveal single massive server hubs consume enough electricity to power 200,000 homes. This immense load has forced local utility providers in Nebraska to postpone coal plant decommissioning to meet the demand spike.</a:t>
            </a:r>
            <a:endParaRPr/>
          </a:p>
        </p:txBody>
      </p:sp>
      <p:sp>
        <p:nvSpPr>
          <p:cNvPr id="170" name="Google Shape;170;p19"/>
          <p:cNvSpPr txBox="1"/>
          <p:nvPr/>
        </p:nvSpPr>
        <p:spPr>
          <a:xfrm>
            <a:off x="6581775" y="2847082"/>
            <a:ext cx="4505325"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10B981"/>
                </a:solidFill>
                <a:latin typeface="Space Grotesk"/>
                <a:ea typeface="Space Grotesk"/>
                <a:cs typeface="Space Grotesk"/>
                <a:sym typeface="Space Grotesk"/>
              </a:rPr>
              <a:t>43% Clustered</a:t>
            </a:r>
            <a:endParaRPr/>
          </a:p>
        </p:txBody>
      </p:sp>
      <p:sp>
        <p:nvSpPr>
          <p:cNvPr id="171" name="Google Shape;171;p19"/>
          <p:cNvSpPr txBox="1"/>
          <p:nvPr/>
        </p:nvSpPr>
        <p:spPr>
          <a:xfrm>
            <a:off x="6581775" y="3323332"/>
            <a:ext cx="4730591"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B3C2C"/>
                </a:solidFill>
                <a:latin typeface="Plus Jakarta Sans"/>
                <a:ea typeface="Plus Jakarta Sans"/>
                <a:cs typeface="Plus Jakarta Sans"/>
                <a:sym typeface="Plus Jakarta Sans"/>
              </a:rPr>
              <a:t>Severe Arid Water Stress</a:t>
            </a:r>
            <a:endParaRPr/>
          </a:p>
        </p:txBody>
      </p:sp>
      <p:sp>
        <p:nvSpPr>
          <p:cNvPr id="172" name="Google Shape;172;p19"/>
          <p:cNvSpPr txBox="1"/>
          <p:nvPr/>
        </p:nvSpPr>
        <p:spPr>
          <a:xfrm>
            <a:off x="6581775" y="3732907"/>
            <a:ext cx="45053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B605B"/>
                </a:solidFill>
                <a:latin typeface="Plus Jakarta Sans"/>
                <a:ea typeface="Plus Jakarta Sans"/>
                <a:cs typeface="Plus Jakarta Sans"/>
                <a:sym typeface="Plus Jakarta Sans"/>
              </a:rPr>
              <a:t>Over 40% of standard high-performance data centers reside in highly water-stressed regions. Evaporative cooling towers require millions of gallons of potable drinking water daily to safeguard processing units from overheating.</a:t>
            </a:r>
            <a:endParaRPr/>
          </a:p>
        </p:txBody>
      </p:sp>
      <p:sp>
        <p:nvSpPr>
          <p:cNvPr id="173" name="Google Shape;173;p19"/>
          <p:cNvSpPr txBox="1"/>
          <p:nvPr/>
        </p:nvSpPr>
        <p:spPr>
          <a:xfrm>
            <a:off x="933450" y="571500"/>
            <a:ext cx="11021377" cy="4113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The Dark Side of AI Data Centers</a:t>
            </a:r>
            <a:endParaRPr/>
          </a:p>
        </p:txBody>
      </p:sp>
      <p:sp>
        <p:nvSpPr>
          <p:cNvPr id="174" name="Google Shape;174;p19"/>
          <p:cNvSpPr/>
          <p:nvPr/>
        </p:nvSpPr>
        <p:spPr>
          <a:xfrm>
            <a:off x="762000" y="571500"/>
            <a:ext cx="47625" cy="41136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178" name="Shape 178"/>
        <p:cNvGrpSpPr/>
        <p:nvPr/>
      </p:nvGrpSpPr>
      <p:grpSpPr>
        <a:xfrm>
          <a:off x="0" y="0"/>
          <a:ext cx="0" cy="0"/>
          <a:chOff x="0" y="0"/>
          <a:chExt cx="0" cy="0"/>
        </a:xfrm>
      </p:grpSpPr>
      <p:pic>
        <p:nvPicPr>
          <p:cNvPr descr="image.png" id="179" name="Google Shape;179;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0" name="Google Shape;180;p20"/>
          <p:cNvPicPr preferRelativeResize="0"/>
          <p:nvPr/>
        </p:nvPicPr>
        <p:blipFill rotWithShape="1">
          <a:blip r:embed="rId4">
            <a:alphaModFix/>
          </a:blip>
          <a:srcRect b="0" l="0" r="0" t="0"/>
          <a:stretch/>
        </p:blipFill>
        <p:spPr>
          <a:xfrm>
            <a:off x="762000" y="2520255"/>
            <a:ext cx="3403550" cy="2514600"/>
          </a:xfrm>
          <a:prstGeom prst="rect">
            <a:avLst/>
          </a:prstGeom>
          <a:noFill/>
          <a:ln>
            <a:noFill/>
          </a:ln>
        </p:spPr>
      </p:pic>
      <p:pic>
        <p:nvPicPr>
          <p:cNvPr descr="image.png" id="181" name="Google Shape;181;p20"/>
          <p:cNvPicPr preferRelativeResize="0"/>
          <p:nvPr/>
        </p:nvPicPr>
        <p:blipFill rotWithShape="1">
          <a:blip r:embed="rId5">
            <a:alphaModFix/>
          </a:blip>
          <a:srcRect b="0" l="0" r="0" t="0"/>
          <a:stretch/>
        </p:blipFill>
        <p:spPr>
          <a:xfrm>
            <a:off x="4394150" y="2520255"/>
            <a:ext cx="3403550" cy="2514600"/>
          </a:xfrm>
          <a:prstGeom prst="rect">
            <a:avLst/>
          </a:prstGeom>
          <a:noFill/>
          <a:ln>
            <a:noFill/>
          </a:ln>
        </p:spPr>
      </p:pic>
      <p:pic>
        <p:nvPicPr>
          <p:cNvPr descr="image.png" id="182" name="Google Shape;182;p20"/>
          <p:cNvPicPr preferRelativeResize="0"/>
          <p:nvPr/>
        </p:nvPicPr>
        <p:blipFill rotWithShape="1">
          <a:blip r:embed="rId6">
            <a:alphaModFix/>
          </a:blip>
          <a:srcRect b="0" l="0" r="0" t="0"/>
          <a:stretch/>
        </p:blipFill>
        <p:spPr>
          <a:xfrm>
            <a:off x="8026300" y="2520255"/>
            <a:ext cx="3403550" cy="2514600"/>
          </a:xfrm>
          <a:prstGeom prst="rect">
            <a:avLst/>
          </a:prstGeom>
          <a:noFill/>
          <a:ln>
            <a:noFill/>
          </a:ln>
        </p:spPr>
      </p:pic>
      <p:sp>
        <p:nvSpPr>
          <p:cNvPr id="183" name="Google Shape;183;p20"/>
          <p:cNvSpPr txBox="1"/>
          <p:nvPr/>
        </p:nvSpPr>
        <p:spPr>
          <a:xfrm>
            <a:off x="1009650" y="3539430"/>
            <a:ext cx="305366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C2C"/>
                </a:solidFill>
                <a:latin typeface="Plus Jakarta Sans"/>
                <a:ea typeface="Plus Jakarta Sans"/>
                <a:cs typeface="Plus Jakarta Sans"/>
                <a:sym typeface="Plus Jakarta Sans"/>
              </a:rPr>
              <a:t>Sustainability</a:t>
            </a:r>
            <a:endParaRPr/>
          </a:p>
        </p:txBody>
      </p:sp>
      <p:sp>
        <p:nvSpPr>
          <p:cNvPr id="184" name="Google Shape;184;p20"/>
          <p:cNvSpPr txBox="1"/>
          <p:nvPr/>
        </p:nvSpPr>
        <p:spPr>
          <a:xfrm>
            <a:off x="1009650" y="3891855"/>
            <a:ext cx="2908250" cy="800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5C736C"/>
                </a:solidFill>
                <a:latin typeface="Plus Jakarta Sans"/>
                <a:ea typeface="Plus Jakarta Sans"/>
                <a:cs typeface="Plus Jakarta Sans"/>
                <a:sym typeface="Plus Jakarta Sans"/>
              </a:rPr>
              <a:t>Ensuring present industrial resource utilization patterns do not disrupt future ecological lifecycles, establishing safe biological baselines.</a:t>
            </a:r>
            <a:endParaRPr/>
          </a:p>
        </p:txBody>
      </p:sp>
      <p:sp>
        <p:nvSpPr>
          <p:cNvPr id="185" name="Google Shape;185;p20"/>
          <p:cNvSpPr txBox="1"/>
          <p:nvPr/>
        </p:nvSpPr>
        <p:spPr>
          <a:xfrm>
            <a:off x="4641800" y="3539430"/>
            <a:ext cx="305366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C2C"/>
                </a:solidFill>
                <a:latin typeface="Plus Jakarta Sans"/>
                <a:ea typeface="Plus Jakarta Sans"/>
                <a:cs typeface="Plus Jakarta Sans"/>
                <a:sym typeface="Plus Jakarta Sans"/>
              </a:rPr>
              <a:t>SCGJ Integration</a:t>
            </a:r>
            <a:endParaRPr/>
          </a:p>
        </p:txBody>
      </p:sp>
      <p:sp>
        <p:nvSpPr>
          <p:cNvPr id="186" name="Google Shape;186;p20"/>
          <p:cNvSpPr txBox="1"/>
          <p:nvPr/>
        </p:nvSpPr>
        <p:spPr>
          <a:xfrm>
            <a:off x="4641800" y="3891855"/>
            <a:ext cx="2908250"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5C736C"/>
                </a:solidFill>
                <a:latin typeface="Plus Jakarta Sans"/>
                <a:ea typeface="Plus Jakarta Sans"/>
                <a:cs typeface="Plus Jakarta Sans"/>
                <a:sym typeface="Plus Jakarta Sans"/>
              </a:rPr>
              <a:t>Promoting educational alignment with India's Skill Council for Green Jobs (SCGJ), solar Suryamitra initiatives, and circular economies.</a:t>
            </a:r>
            <a:endParaRPr/>
          </a:p>
        </p:txBody>
      </p:sp>
      <p:sp>
        <p:nvSpPr>
          <p:cNvPr id="187" name="Google Shape;187;p20"/>
          <p:cNvSpPr txBox="1"/>
          <p:nvPr/>
        </p:nvSpPr>
        <p:spPr>
          <a:xfrm>
            <a:off x="8273950" y="3539430"/>
            <a:ext cx="305366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C2C"/>
                </a:solidFill>
                <a:latin typeface="Plus Jakarta Sans"/>
                <a:ea typeface="Plus Jakarta Sans"/>
                <a:cs typeface="Plus Jakarta Sans"/>
                <a:sym typeface="Plus Jakarta Sans"/>
              </a:rPr>
              <a:t>Eco-Skills</a:t>
            </a:r>
            <a:endParaRPr/>
          </a:p>
        </p:txBody>
      </p:sp>
      <p:sp>
        <p:nvSpPr>
          <p:cNvPr id="188" name="Google Shape;188;p20"/>
          <p:cNvSpPr txBox="1"/>
          <p:nvPr/>
        </p:nvSpPr>
        <p:spPr>
          <a:xfrm>
            <a:off x="8273950" y="3891855"/>
            <a:ext cx="2908250" cy="800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5C736C"/>
                </a:solidFill>
                <a:latin typeface="Plus Jakarta Sans"/>
                <a:ea typeface="Plus Jakarta Sans"/>
                <a:cs typeface="Plus Jakarta Sans"/>
                <a:sym typeface="Plus Jakarta Sans"/>
              </a:rPr>
              <a:t>Cultivating technical competencies in environmental data analytics, micro-grid management, and automated smart recycling infrastructure.</a:t>
            </a:r>
            <a:endParaRPr/>
          </a:p>
        </p:txBody>
      </p:sp>
      <p:pic>
        <p:nvPicPr>
          <p:cNvPr descr="image.png" id="189" name="Google Shape;189;p20"/>
          <p:cNvPicPr preferRelativeResize="0"/>
          <p:nvPr/>
        </p:nvPicPr>
        <p:blipFill rotWithShape="1">
          <a:blip r:embed="rId7">
            <a:alphaModFix/>
          </a:blip>
          <a:srcRect b="0" l="0" r="0" t="0"/>
          <a:stretch/>
        </p:blipFill>
        <p:spPr>
          <a:xfrm>
            <a:off x="1009650" y="2929830"/>
            <a:ext cx="381000" cy="381000"/>
          </a:xfrm>
          <a:prstGeom prst="rect">
            <a:avLst/>
          </a:prstGeom>
          <a:noFill/>
          <a:ln>
            <a:noFill/>
          </a:ln>
        </p:spPr>
      </p:pic>
      <p:pic>
        <p:nvPicPr>
          <p:cNvPr descr="image.png" id="190" name="Google Shape;190;p20"/>
          <p:cNvPicPr preferRelativeResize="0"/>
          <p:nvPr/>
        </p:nvPicPr>
        <p:blipFill rotWithShape="1">
          <a:blip r:embed="rId8">
            <a:alphaModFix/>
          </a:blip>
          <a:srcRect b="0" l="0" r="0" t="0"/>
          <a:stretch/>
        </p:blipFill>
        <p:spPr>
          <a:xfrm>
            <a:off x="4641800" y="2929830"/>
            <a:ext cx="476250" cy="381000"/>
          </a:xfrm>
          <a:prstGeom prst="rect">
            <a:avLst/>
          </a:prstGeom>
          <a:noFill/>
          <a:ln>
            <a:noFill/>
          </a:ln>
        </p:spPr>
      </p:pic>
      <p:pic>
        <p:nvPicPr>
          <p:cNvPr descr="image.png" id="191" name="Google Shape;191;p20"/>
          <p:cNvPicPr preferRelativeResize="0"/>
          <p:nvPr/>
        </p:nvPicPr>
        <p:blipFill rotWithShape="1">
          <a:blip r:embed="rId9">
            <a:alphaModFix/>
          </a:blip>
          <a:srcRect b="0" l="0" r="0" t="0"/>
          <a:stretch/>
        </p:blipFill>
        <p:spPr>
          <a:xfrm>
            <a:off x="8273950" y="2929830"/>
            <a:ext cx="476250" cy="381000"/>
          </a:xfrm>
          <a:prstGeom prst="rect">
            <a:avLst/>
          </a:prstGeom>
          <a:noFill/>
          <a:ln>
            <a:noFill/>
          </a:ln>
        </p:spPr>
      </p:pic>
      <p:sp>
        <p:nvSpPr>
          <p:cNvPr id="192" name="Google Shape;192;p20"/>
          <p:cNvSpPr txBox="1"/>
          <p:nvPr/>
        </p:nvSpPr>
        <p:spPr>
          <a:xfrm>
            <a:off x="933450" y="571500"/>
            <a:ext cx="11021377" cy="4113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Green Skilling &amp; Vocational Frameworks</a:t>
            </a:r>
            <a:endParaRPr/>
          </a:p>
        </p:txBody>
      </p:sp>
      <p:sp>
        <p:nvSpPr>
          <p:cNvPr id="193" name="Google Shape;193;p20"/>
          <p:cNvSpPr/>
          <p:nvPr/>
        </p:nvSpPr>
        <p:spPr>
          <a:xfrm>
            <a:off x="762000" y="571500"/>
            <a:ext cx="47625" cy="41136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197" name="Shape 197"/>
        <p:cNvGrpSpPr/>
        <p:nvPr/>
      </p:nvGrpSpPr>
      <p:grpSpPr>
        <a:xfrm>
          <a:off x="0" y="0"/>
          <a:ext cx="0" cy="0"/>
          <a:chOff x="0" y="0"/>
          <a:chExt cx="0" cy="0"/>
        </a:xfrm>
      </p:grpSpPr>
      <p:pic>
        <p:nvPicPr>
          <p:cNvPr descr="image.png" id="198" name="Google Shape;198;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9" name="Google Shape;199;p21"/>
          <p:cNvSpPr txBox="1"/>
          <p:nvPr/>
        </p:nvSpPr>
        <p:spPr>
          <a:xfrm>
            <a:off x="933450" y="571500"/>
            <a:ext cx="5170646" cy="82272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Smart Circular Economies: NANDO</a:t>
            </a:r>
            <a:endParaRPr/>
          </a:p>
        </p:txBody>
      </p:sp>
      <p:sp>
        <p:nvSpPr>
          <p:cNvPr id="200" name="Google Shape;200;p21"/>
          <p:cNvSpPr/>
          <p:nvPr/>
        </p:nvSpPr>
        <p:spPr>
          <a:xfrm>
            <a:off x="762000" y="571500"/>
            <a:ext cx="47625" cy="822721"/>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21"/>
          <p:cNvSpPr txBox="1"/>
          <p:nvPr/>
        </p:nvSpPr>
        <p:spPr>
          <a:xfrm>
            <a:off x="762000" y="1679971"/>
            <a:ext cx="5095875" cy="222795"/>
          </a:xfrm>
          <a:prstGeom prst="rect">
            <a:avLst/>
          </a:prstGeom>
          <a:noFill/>
          <a:ln>
            <a:noFill/>
          </a:ln>
        </p:spPr>
        <p:txBody>
          <a:bodyPr anchorCtr="0" anchor="t" bIns="0" lIns="0" spcFirstLastPara="1" rIns="0" wrap="square" tIns="0">
            <a:spAutoFit/>
          </a:bodyPr>
          <a:lstStyle/>
          <a:p>
            <a:pPr indent="0" lvl="0" marL="0" marR="0" rtl="0" algn="l">
              <a:lnSpc>
                <a:spcPct val="129925"/>
              </a:lnSpc>
              <a:spcBef>
                <a:spcPts val="0"/>
              </a:spcBef>
              <a:spcAft>
                <a:spcPts val="0"/>
              </a:spcAft>
              <a:buNone/>
            </a:pPr>
            <a:r>
              <a:rPr b="0" i="0" lang="en-US" sz="1350" u="none" cap="none" strike="noStrike">
                <a:solidFill>
                  <a:srgbClr val="0B3C2C"/>
                </a:solidFill>
                <a:latin typeface="Plus Jakarta Sans SemiBold"/>
                <a:ea typeface="Plus Jakarta Sans SemiBold"/>
                <a:cs typeface="Plus Jakarta Sans SemiBold"/>
                <a:sym typeface="Plus Jakarta Sans SemiBold"/>
              </a:rPr>
              <a:t>Automated E-Waste Segregation</a:t>
            </a:r>
            <a:endParaRPr/>
          </a:p>
        </p:txBody>
      </p:sp>
      <p:sp>
        <p:nvSpPr>
          <p:cNvPr id="202" name="Google Shape;202;p21"/>
          <p:cNvSpPr txBox="1"/>
          <p:nvPr/>
        </p:nvSpPr>
        <p:spPr>
          <a:xfrm>
            <a:off x="762000" y="2017067"/>
            <a:ext cx="5095875"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B605B"/>
                </a:solidFill>
                <a:latin typeface="Plus Jakarta Sans"/>
                <a:ea typeface="Plus Jakarta Sans"/>
                <a:cs typeface="Plus Jakarta Sans"/>
                <a:sym typeface="Plus Jakarta Sans"/>
              </a:rPr>
              <a:t>Computer-vision systems (deployed globally by platforms like NANDO across 17 countries) leverage smart bins with real-time classification models to identify and sort toxic electronic waste materials.</a:t>
            </a:r>
            <a:endParaRPr/>
          </a:p>
        </p:txBody>
      </p:sp>
      <p:sp>
        <p:nvSpPr>
          <p:cNvPr id="203" name="Google Shape;203;p21"/>
          <p:cNvSpPr txBox="1"/>
          <p:nvPr/>
        </p:nvSpPr>
        <p:spPr>
          <a:xfrm>
            <a:off x="762000" y="2831455"/>
            <a:ext cx="5095875"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B605B"/>
                </a:solidFill>
                <a:latin typeface="Plus Jakarta Sans"/>
                <a:ea typeface="Plus Jakarta Sans"/>
                <a:cs typeface="Plus Jakarta Sans"/>
                <a:sym typeface="Plus Jakarta Sans"/>
              </a:rPr>
              <a:t>This automated processing protects human sorting operators from exposure, prevents heavy metal soil leaching, and secures rare earth element extraction.</a:t>
            </a:r>
            <a:endParaRPr/>
          </a:p>
        </p:txBody>
      </p:sp>
      <p:pic>
        <p:nvPicPr>
          <p:cNvPr id="204" name="Google Shape;204;p21"/>
          <p:cNvPicPr preferRelativeResize="0"/>
          <p:nvPr/>
        </p:nvPicPr>
        <p:blipFill rotWithShape="1">
          <a:blip r:embed="rId4">
            <a:alphaModFix/>
          </a:blip>
          <a:srcRect b="0" l="0" r="2430" t="0"/>
          <a:stretch/>
        </p:blipFill>
        <p:spPr>
          <a:xfrm>
            <a:off x="7165825" y="800225"/>
            <a:ext cx="4042575" cy="4705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2C"/>
        </a:solidFill>
      </p:bgPr>
    </p:bg>
    <p:spTree>
      <p:nvGrpSpPr>
        <p:cNvPr id="208" name="Shape 208"/>
        <p:cNvGrpSpPr/>
        <p:nvPr/>
      </p:nvGrpSpPr>
      <p:grpSpPr>
        <a:xfrm>
          <a:off x="0" y="0"/>
          <a:ext cx="0" cy="0"/>
          <a:chOff x="0" y="0"/>
          <a:chExt cx="0" cy="0"/>
        </a:xfrm>
      </p:grpSpPr>
      <p:pic>
        <p:nvPicPr>
          <p:cNvPr descr="image.png" id="209" name="Google Shape;209;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0" name="Google Shape;210;p22"/>
          <p:cNvSpPr/>
          <p:nvPr/>
        </p:nvSpPr>
        <p:spPr>
          <a:xfrm>
            <a:off x="5715000" y="2676525"/>
            <a:ext cx="762000" cy="381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2"/>
          <p:cNvSpPr txBox="1"/>
          <p:nvPr/>
        </p:nvSpPr>
        <p:spPr>
          <a:xfrm>
            <a:off x="1175384" y="2952750"/>
            <a:ext cx="9841230"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AF9F6"/>
                </a:solidFill>
                <a:latin typeface="Plus Jakarta Sans"/>
                <a:ea typeface="Plus Jakarta Sans"/>
                <a:cs typeface="Plus Jakarta Sans"/>
                <a:sym typeface="Plus Jakarta Sans"/>
              </a:rPr>
              <a:t>03 / Proposed Capstone Frameworks</a:t>
            </a:r>
            <a:endParaRPr/>
          </a:p>
        </p:txBody>
      </p:sp>
      <p:sp>
        <p:nvSpPr>
          <p:cNvPr id="212" name="Google Shape;212;p22"/>
          <p:cNvSpPr txBox="1"/>
          <p:nvPr/>
        </p:nvSpPr>
        <p:spPr>
          <a:xfrm>
            <a:off x="2762250" y="3810000"/>
            <a:ext cx="66675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A3BFB8"/>
                </a:solidFill>
                <a:latin typeface="Plus Jakarta Sans"/>
                <a:ea typeface="Plus Jakarta Sans"/>
                <a:cs typeface="Plus Jakarta Sans"/>
                <a:sym typeface="Plus Jakarta Sans"/>
              </a:rPr>
              <a:t>Targeted software implementations applying computer engineering to resource optimization goals.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216" name="Shape 216"/>
        <p:cNvGrpSpPr/>
        <p:nvPr/>
      </p:nvGrpSpPr>
      <p:grpSpPr>
        <a:xfrm>
          <a:off x="0" y="0"/>
          <a:ext cx="0" cy="0"/>
          <a:chOff x="0" y="0"/>
          <a:chExt cx="0" cy="0"/>
        </a:xfrm>
      </p:grpSpPr>
      <p:pic>
        <p:nvPicPr>
          <p:cNvPr descr="image.png" id="217" name="Google Shape;217;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8" name="Google Shape;218;p23"/>
          <p:cNvPicPr preferRelativeResize="0"/>
          <p:nvPr/>
        </p:nvPicPr>
        <p:blipFill rotWithShape="1">
          <a:blip r:embed="rId4">
            <a:alphaModFix/>
          </a:blip>
          <a:srcRect b="0" l="0" r="0" t="0"/>
          <a:stretch/>
        </p:blipFill>
        <p:spPr>
          <a:xfrm>
            <a:off x="762000" y="1268610"/>
            <a:ext cx="10668000" cy="5017889"/>
          </a:xfrm>
          <a:prstGeom prst="rect">
            <a:avLst/>
          </a:prstGeom>
          <a:noFill/>
          <a:ln>
            <a:noFill/>
          </a:ln>
        </p:spPr>
      </p:pic>
      <p:sp>
        <p:nvSpPr>
          <p:cNvPr id="219" name="Google Shape;219;p23"/>
          <p:cNvSpPr txBox="1"/>
          <p:nvPr/>
        </p:nvSpPr>
        <p:spPr>
          <a:xfrm>
            <a:off x="762000" y="5071020"/>
            <a:ext cx="10668000" cy="21327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1" i="1" lang="en-US" sz="1050" u="none" cap="none" strike="noStrike">
                <a:solidFill>
                  <a:srgbClr val="5C736C"/>
                </a:solidFill>
                <a:latin typeface="Plus Jakarta Sans"/>
                <a:ea typeface="Plus Jakarta Sans"/>
                <a:cs typeface="Plus Jakarta Sans"/>
                <a:sym typeface="Plus Jakarta Sans"/>
              </a:rPr>
              <a:t>Source:</a:t>
            </a:r>
            <a:r>
              <a:rPr b="0" i="1" lang="en-US" sz="1050" u="none" cap="none" strike="noStrike">
                <a:solidFill>
                  <a:srgbClr val="5C736C"/>
                </a:solidFill>
                <a:latin typeface="Plus Jakarta Sans"/>
                <a:ea typeface="Plus Jakarta Sans"/>
                <a:cs typeface="Plus Jakarta Sans"/>
                <a:sym typeface="Plus Jakarta Sans"/>
              </a:rPr>
              <a:t> Consolidated academic research comparing training runs with consumer indicators. Emphasizes the need for regional smart grids and clean computational routing.</a:t>
            </a:r>
            <a:endParaRPr/>
          </a:p>
        </p:txBody>
      </p:sp>
      <p:sp>
        <p:nvSpPr>
          <p:cNvPr id="220" name="Google Shape;220;p23"/>
          <p:cNvSpPr txBox="1"/>
          <p:nvPr/>
        </p:nvSpPr>
        <p:spPr>
          <a:xfrm>
            <a:off x="933450" y="571500"/>
            <a:ext cx="11021377" cy="4113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The Cost of Progress: Lifecycle Carbon</a:t>
            </a:r>
            <a:endParaRPr/>
          </a:p>
        </p:txBody>
      </p:sp>
      <p:sp>
        <p:nvSpPr>
          <p:cNvPr id="221" name="Google Shape;221;p23"/>
          <p:cNvSpPr/>
          <p:nvPr/>
        </p:nvSpPr>
        <p:spPr>
          <a:xfrm>
            <a:off x="762000" y="571500"/>
            <a:ext cx="47625" cy="41136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225" name="Shape 225"/>
        <p:cNvGrpSpPr/>
        <p:nvPr/>
      </p:nvGrpSpPr>
      <p:grpSpPr>
        <a:xfrm>
          <a:off x="0" y="0"/>
          <a:ext cx="0" cy="0"/>
          <a:chOff x="0" y="0"/>
          <a:chExt cx="0" cy="0"/>
        </a:xfrm>
      </p:grpSpPr>
      <p:pic>
        <p:nvPicPr>
          <p:cNvPr descr="image.png" id="226" name="Google Shape;22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7" name="Google Shape;227;p24"/>
          <p:cNvPicPr preferRelativeResize="0"/>
          <p:nvPr/>
        </p:nvPicPr>
        <p:blipFill rotWithShape="1">
          <a:blip r:embed="rId4">
            <a:alphaModFix/>
          </a:blip>
          <a:srcRect b="0" l="0" r="0" t="0"/>
          <a:stretch/>
        </p:blipFill>
        <p:spPr>
          <a:xfrm>
            <a:off x="762000" y="1386800"/>
            <a:ext cx="10747175" cy="4647000"/>
          </a:xfrm>
          <a:prstGeom prst="rect">
            <a:avLst/>
          </a:prstGeom>
          <a:noFill/>
          <a:ln>
            <a:noFill/>
          </a:ln>
        </p:spPr>
      </p:pic>
      <p:sp>
        <p:nvSpPr>
          <p:cNvPr id="228" name="Google Shape;228;p24"/>
          <p:cNvSpPr txBox="1"/>
          <p:nvPr/>
        </p:nvSpPr>
        <p:spPr>
          <a:xfrm>
            <a:off x="1111650" y="2214775"/>
            <a:ext cx="9665100" cy="73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B3C2C"/>
                </a:solidFill>
                <a:latin typeface="Plus Jakarta Sans"/>
                <a:ea typeface="Plus Jakarta Sans"/>
                <a:cs typeface="Plus Jakarta Sans"/>
                <a:sym typeface="Plus Jakarta Sans"/>
              </a:rPr>
              <a:t>Project : Vision</a:t>
            </a:r>
            <a:r>
              <a:rPr b="1" lang="en-US" sz="2400">
                <a:solidFill>
                  <a:srgbClr val="0B3C2C"/>
                </a:solidFill>
                <a:latin typeface="Plus Jakarta Sans"/>
                <a:ea typeface="Plus Jakarta Sans"/>
                <a:cs typeface="Plus Jakarta Sans"/>
                <a:sym typeface="Plus Jakarta Sans"/>
              </a:rPr>
              <a:t>Bin:Automated E-Waste &amp; Circular Economy Classification Engine </a:t>
            </a:r>
            <a:endParaRPr sz="2300"/>
          </a:p>
        </p:txBody>
      </p:sp>
      <p:pic>
        <p:nvPicPr>
          <p:cNvPr descr="image.png" id="229" name="Google Shape;229;p24"/>
          <p:cNvPicPr preferRelativeResize="0"/>
          <p:nvPr/>
        </p:nvPicPr>
        <p:blipFill rotWithShape="1">
          <a:blip r:embed="rId5">
            <a:alphaModFix/>
          </a:blip>
          <a:srcRect b="0" l="0" r="0" t="0"/>
          <a:stretch/>
        </p:blipFill>
        <p:spPr>
          <a:xfrm>
            <a:off x="1111650" y="1679367"/>
            <a:ext cx="381000" cy="381000"/>
          </a:xfrm>
          <a:prstGeom prst="rect">
            <a:avLst/>
          </a:prstGeom>
          <a:noFill/>
          <a:ln>
            <a:noFill/>
          </a:ln>
        </p:spPr>
      </p:pic>
      <p:sp>
        <p:nvSpPr>
          <p:cNvPr id="230" name="Google Shape;230;p24"/>
          <p:cNvSpPr txBox="1"/>
          <p:nvPr/>
        </p:nvSpPr>
        <p:spPr>
          <a:xfrm>
            <a:off x="933450" y="571500"/>
            <a:ext cx="11021400" cy="415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B3C2C"/>
                </a:solidFill>
                <a:latin typeface="Plus Jakarta Sans"/>
                <a:ea typeface="Plus Jakarta Sans"/>
                <a:cs typeface="Plus Jakarta Sans"/>
                <a:sym typeface="Plus Jakarta Sans"/>
              </a:rPr>
              <a:t>Proposed AI Capstone Project</a:t>
            </a:r>
            <a:endParaRPr/>
          </a:p>
        </p:txBody>
      </p:sp>
      <p:sp>
        <p:nvSpPr>
          <p:cNvPr id="231" name="Google Shape;231;p24"/>
          <p:cNvSpPr/>
          <p:nvPr/>
        </p:nvSpPr>
        <p:spPr>
          <a:xfrm>
            <a:off x="762000" y="571500"/>
            <a:ext cx="47625" cy="41136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4"/>
          <p:cNvSpPr txBox="1"/>
          <p:nvPr/>
        </p:nvSpPr>
        <p:spPr>
          <a:xfrm>
            <a:off x="1143000" y="3020775"/>
            <a:ext cx="10019700" cy="280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1700">
                <a:solidFill>
                  <a:schemeClr val="dk1"/>
                </a:solidFill>
              </a:rPr>
              <a:t>Project Objectives</a:t>
            </a:r>
            <a:endParaRPr b="1" sz="1700">
              <a:solidFill>
                <a:schemeClr val="dk1"/>
              </a:solidFill>
            </a:endParaRPr>
          </a:p>
          <a:p>
            <a:pPr indent="-304800" lvl="0" marL="457200" rtl="0" algn="l">
              <a:lnSpc>
                <a:spcPct val="115000"/>
              </a:lnSpc>
              <a:spcBef>
                <a:spcPts val="400"/>
              </a:spcBef>
              <a:spcAft>
                <a:spcPts val="0"/>
              </a:spcAft>
              <a:buClr>
                <a:schemeClr val="dk1"/>
              </a:buClr>
              <a:buSzPts val="1200"/>
              <a:buChar char="●"/>
            </a:pPr>
            <a:r>
              <a:rPr b="1" lang="en-US" sz="1200">
                <a:solidFill>
                  <a:schemeClr val="dk1"/>
                </a:solidFill>
              </a:rPr>
              <a:t>Automated E-Waste Sorting:</a:t>
            </a:r>
            <a:r>
              <a:rPr lang="en-US" sz="1200">
                <a:solidFill>
                  <a:schemeClr val="dk1"/>
                </a:solidFill>
              </a:rPr>
              <a:t> Build an AI vision pipeline to identify and sort high-value recyclables (PCBs, Metals) from hazardous materials (Batteries) in real-time.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Minimize Computing Footprint:</a:t>
            </a:r>
            <a:r>
              <a:rPr lang="en-US" sz="1200">
                <a:solidFill>
                  <a:schemeClr val="dk1"/>
                </a:solidFill>
              </a:rPr>
              <a:t> Optimize the Python inference code to run efficiently, directly lowering edge-computing power and data center carbon emissions.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Real-Time Impact Tracking:</a:t>
            </a:r>
            <a:r>
              <a:rPr lang="en-US" sz="1200">
                <a:solidFill>
                  <a:schemeClr val="dk1"/>
                </a:solidFill>
              </a:rPr>
              <a:t> Embed mathematical models to calculate and display operational Energy ($kWh$), Carbon (kg $CO_2$), and Water usage during automated sorting.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Support Green Skilling (SCGJ):</a:t>
            </a:r>
            <a:r>
              <a:rPr lang="en-US" sz="1200">
                <a:solidFill>
                  <a:schemeClr val="dk1"/>
                </a:solidFill>
              </a:rPr>
              <a:t> Create an intuitive dashboard interface that allows manual recycling laborers to upgrade their skills and manage automated systems safely.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Enable Global Partnerships (SDG 17):</a:t>
            </a:r>
            <a:r>
              <a:rPr lang="en-US" sz="1200">
                <a:solidFill>
                  <a:schemeClr val="dk1"/>
                </a:solidFill>
              </a:rPr>
              <a:t> Standardize waste-tracking data logs so municipal corporations and tech manufacturers can collaboratively trace recycling loops.</a:t>
            </a:r>
            <a:endParaRPr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2C"/>
        </a:solidFill>
      </p:bgPr>
    </p:bg>
    <p:spTree>
      <p:nvGrpSpPr>
        <p:cNvPr id="236" name="Shape 236"/>
        <p:cNvGrpSpPr/>
        <p:nvPr/>
      </p:nvGrpSpPr>
      <p:grpSpPr>
        <a:xfrm>
          <a:off x="0" y="0"/>
          <a:ext cx="0" cy="0"/>
          <a:chOff x="0" y="0"/>
          <a:chExt cx="0" cy="0"/>
        </a:xfrm>
      </p:grpSpPr>
      <p:pic>
        <p:nvPicPr>
          <p:cNvPr descr="image.png" id="237" name="Google Shape;237;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8" name="Google Shape;238;p25"/>
          <p:cNvSpPr/>
          <p:nvPr/>
        </p:nvSpPr>
        <p:spPr>
          <a:xfrm>
            <a:off x="5715000" y="2372617"/>
            <a:ext cx="762000" cy="38100"/>
          </a:xfrm>
          <a:prstGeom prst="rect">
            <a:avLst/>
          </a:prstGeom>
          <a:solidFill>
            <a:srgbClr val="D1AF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5"/>
          <p:cNvSpPr txBox="1"/>
          <p:nvPr/>
        </p:nvSpPr>
        <p:spPr>
          <a:xfrm>
            <a:off x="3080623" y="2648842"/>
            <a:ext cx="6030753" cy="762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AF9F6"/>
                </a:solidFill>
                <a:latin typeface="Plus Jakarta Sans"/>
                <a:ea typeface="Plus Jakarta Sans"/>
                <a:cs typeface="Plus Jakarta Sans"/>
                <a:sym typeface="Plus Jakarta Sans"/>
              </a:rPr>
              <a:t>Empowering SDG 17</a:t>
            </a:r>
            <a:endParaRPr/>
          </a:p>
        </p:txBody>
      </p:sp>
      <p:sp>
        <p:nvSpPr>
          <p:cNvPr id="240" name="Google Shape;240;p25"/>
          <p:cNvSpPr txBox="1"/>
          <p:nvPr/>
        </p:nvSpPr>
        <p:spPr>
          <a:xfrm>
            <a:off x="2762250" y="3601342"/>
            <a:ext cx="66675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FAF9F6"/>
                </a:solidFill>
                <a:latin typeface="Plus Jakarta Sans"/>
                <a:ea typeface="Plus Jakarta Sans"/>
                <a:cs typeface="Plus Jakarta Sans"/>
                <a:sym typeface="Plus Jakarta Sans"/>
              </a:rPr>
              <a:t>Developing software solutions with technical responsibility to safeguard our environmental future.</a:t>
            </a:r>
            <a:endParaRPr/>
          </a:p>
        </p:txBody>
      </p:sp>
      <p:sp>
        <p:nvSpPr>
          <p:cNvPr id="241" name="Google Shape;241;p25"/>
          <p:cNvSpPr txBox="1"/>
          <p:nvPr/>
        </p:nvSpPr>
        <p:spPr>
          <a:xfrm>
            <a:off x="3433762" y="4449067"/>
            <a:ext cx="53244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BFB8"/>
                </a:solidFill>
                <a:latin typeface="Space Grotesk"/>
                <a:ea typeface="Space Grotesk"/>
                <a:cs typeface="Space Grotesk"/>
                <a:sym typeface="Space Grotesk"/>
              </a:rPr>
              <a:t>Presenter: Patel Sani</a:t>
            </a:r>
            <a:r>
              <a:rPr lang="en-US" sz="1350">
                <a:solidFill>
                  <a:srgbClr val="A3BFB8"/>
                </a:solidFill>
                <a:latin typeface="Space Grotesk"/>
                <a:ea typeface="Space Grotesk"/>
                <a:cs typeface="Space Grotesk"/>
                <a:sym typeface="Space Grotesk"/>
              </a:rPr>
              <a:t> I.</a:t>
            </a:r>
            <a:r>
              <a:rPr b="0" i="0" lang="en-US" sz="1350" u="none" cap="none" strike="noStrike">
                <a:solidFill>
                  <a:srgbClr val="A3BFB8"/>
                </a:solidFill>
                <a:latin typeface="Space Grotesk"/>
                <a:ea typeface="Space Grotesk"/>
                <a:cs typeface="Space Grotesk"/>
                <a:sym typeface="Space Grotesk"/>
              </a:rPr>
              <a:t> | RNG Patel Institute of Technology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